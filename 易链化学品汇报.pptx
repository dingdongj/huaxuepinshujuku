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</p:sldMasterIdLst>
  <p:notesMasterIdLst>
    <p:notesMasterId r:id="rId12"/>
  </p:notesMasterIdLst>
  <p:sldIdLst>
    <p:sldId id="256" r:id="rId3"/>
    <p:sldId id="527" r:id="rId4"/>
    <p:sldId id="257" r:id="rId5"/>
    <p:sldId id="528" r:id="rId6"/>
    <p:sldId id="531" r:id="rId7"/>
    <p:sldId id="560" r:id="rId8"/>
    <p:sldId id="561" r:id="rId9"/>
    <p:sldId id="562" r:id="rId10"/>
    <p:sldId id="53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7C80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457" autoAdjust="0"/>
  </p:normalViewPr>
  <p:slideViewPr>
    <p:cSldViewPr snapToGrid="0">
      <p:cViewPr varScale="1">
        <p:scale>
          <a:sx n="81" d="100"/>
          <a:sy n="81" d="100"/>
        </p:scale>
        <p:origin x="15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EDDF7-160D-47F6-A6F2-65D81F30E99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DEE68-7A00-4561-97A8-ACF9C3AFFE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各位老师和专家</a:t>
            </a:r>
            <a:r>
              <a:rPr lang="en-US" altLang="zh-CN" dirty="0"/>
              <a:t>,</a:t>
            </a:r>
            <a:r>
              <a:rPr lang="zh-CN" altLang="en-US" dirty="0"/>
              <a:t>大家好。</a:t>
            </a:r>
          </a:p>
          <a:p>
            <a:r>
              <a:rPr lang="zh-CN" altLang="en-US" dirty="0"/>
              <a:t>我是来自自动化学院的汇报人肖云飞。</a:t>
            </a:r>
          </a:p>
          <a:p>
            <a:r>
              <a:rPr lang="zh-CN" altLang="en-US" dirty="0"/>
              <a:t>今天我为大家演示的项目是</a:t>
            </a:r>
            <a:r>
              <a:rPr lang="en-US" altLang="zh-CN" dirty="0"/>
              <a:t>——</a:t>
            </a:r>
            <a:r>
              <a:rPr lang="zh-CN" altLang="en-US" b="1" dirty="0"/>
              <a:t>基于超算大脑的危化品智能查询系统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DEE68-7A00-4561-97A8-ACF9C3AFFE8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895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我将主要通过以下六个部分来展开：</a:t>
            </a:r>
          </a:p>
          <a:p>
            <a:r>
              <a:rPr lang="zh-CN" altLang="en-US" dirty="0"/>
              <a:t>首先，我会介绍**「项目背景与价值」</a:t>
            </a:r>
            <a:r>
              <a:rPr lang="zh-CN" altLang="en-US" b="1" dirty="0"/>
              <a:t>和</a:t>
            </a:r>
            <a:r>
              <a:rPr lang="zh-CN" altLang="en-US" dirty="0"/>
              <a:t>「系统整体架构」</a:t>
            </a:r>
            <a:r>
              <a:rPr lang="zh-CN" altLang="en-US" b="1" dirty="0"/>
              <a:t>。 接着，我会重点介绍三个核心功能点：</a:t>
            </a:r>
            <a:r>
              <a:rPr lang="zh-CN" altLang="en-US" dirty="0"/>
              <a:t>「多维度智能搜索」</a:t>
            </a:r>
            <a:r>
              <a:rPr lang="zh-CN" altLang="en-US" b="1" dirty="0"/>
              <a:t>、</a:t>
            </a:r>
            <a:r>
              <a:rPr lang="zh-CN" altLang="en-US" dirty="0"/>
              <a:t>「</a:t>
            </a:r>
            <a:r>
              <a:rPr lang="en-US" altLang="zh-CN" dirty="0"/>
              <a:t>PDF</a:t>
            </a:r>
            <a:r>
              <a:rPr lang="zh-CN" altLang="en-US" dirty="0"/>
              <a:t>智能高亮匹配」</a:t>
            </a:r>
            <a:r>
              <a:rPr lang="zh-CN" altLang="en-US" b="1" dirty="0"/>
              <a:t>以及</a:t>
            </a:r>
            <a:r>
              <a:rPr lang="zh-CN" altLang="en-US" dirty="0"/>
              <a:t>「</a:t>
            </a:r>
            <a:r>
              <a:rPr lang="en-US" altLang="zh-CN" dirty="0"/>
              <a:t>AI</a:t>
            </a:r>
            <a:r>
              <a:rPr lang="zh-CN" altLang="en-US" dirty="0"/>
              <a:t>多化学品智能分析」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DEE68-7A00-4561-97A8-ACF9C3AFFE8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131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dirty="0"/>
              <a:t>目前化学品管理主要有几大痛点：</a:t>
            </a:r>
            <a:r>
              <a:rPr lang="zh-CN" altLang="en-US" sz="1800" b="1" dirty="0"/>
              <a:t>信息分散查询难</a:t>
            </a:r>
            <a:r>
              <a:rPr lang="zh-CN" altLang="en-US" sz="1800" dirty="0"/>
              <a:t>，</a:t>
            </a:r>
            <a:r>
              <a:rPr lang="zh-CN" altLang="en-US" sz="1800" b="1" dirty="0"/>
              <a:t>法规众多匹配慢</a:t>
            </a:r>
            <a:r>
              <a:rPr lang="zh-CN" altLang="en-US" sz="1800" dirty="0"/>
              <a:t>，</a:t>
            </a:r>
            <a:r>
              <a:rPr lang="zh-CN" altLang="en-US" sz="1800" b="1" dirty="0"/>
              <a:t>共存风险难评估</a:t>
            </a:r>
            <a:r>
              <a:rPr lang="zh-CN" altLang="en-US" sz="1800" dirty="0"/>
              <a:t>，以及</a:t>
            </a:r>
            <a:r>
              <a:rPr lang="zh-CN" altLang="en-US" sz="1800" b="1" dirty="0"/>
              <a:t>缺乏智能化工具</a:t>
            </a:r>
            <a:r>
              <a:rPr lang="zh-CN" altLang="en-US" sz="1800" dirty="0"/>
              <a:t>。</a:t>
            </a:r>
          </a:p>
          <a:p>
            <a:r>
              <a:rPr lang="zh-CN" altLang="en-US" sz="1800" dirty="0"/>
              <a:t>（稍作停顿）</a:t>
            </a:r>
          </a:p>
          <a:p>
            <a:r>
              <a:rPr lang="zh-CN" altLang="en-US" sz="1800" dirty="0"/>
              <a:t>为了解决这些问题，我们推出了</a:t>
            </a:r>
            <a:r>
              <a:rPr lang="zh-CN" altLang="en-US" sz="1800" b="1" dirty="0"/>
              <a:t>易链危化品智能查询系统</a:t>
            </a:r>
            <a:r>
              <a:rPr lang="en-US" altLang="zh-CN" sz="1800" dirty="0"/>
              <a:t>——</a:t>
            </a:r>
            <a:r>
              <a:rPr lang="zh-CN" altLang="en-US" sz="1800" dirty="0"/>
              <a:t>它是一个</a:t>
            </a:r>
            <a:r>
              <a:rPr lang="zh-CN" altLang="en-US" sz="1800" b="1" dirty="0"/>
              <a:t>专业的智能分析平台</a:t>
            </a:r>
            <a:r>
              <a:rPr lang="zh-CN" altLang="en-US" sz="1800" dirty="0"/>
              <a:t>。</a:t>
            </a:r>
          </a:p>
          <a:p>
            <a:r>
              <a:rPr lang="zh-CN" altLang="en-US" sz="1800" dirty="0"/>
              <a:t>它的核心价值就是：实现</a:t>
            </a:r>
            <a:r>
              <a:rPr lang="zh-CN" altLang="en-US" sz="1800" b="1" dirty="0"/>
              <a:t>秒级响应</a:t>
            </a:r>
            <a:r>
              <a:rPr lang="zh-CN" altLang="en-US" sz="1800" dirty="0"/>
              <a:t>提高效率，利用</a:t>
            </a:r>
            <a:r>
              <a:rPr lang="en-US" altLang="zh-CN" sz="1800" b="1" dirty="0"/>
              <a:t>AI</a:t>
            </a:r>
            <a:r>
              <a:rPr lang="zh-CN" altLang="en-US" sz="1800" b="1" dirty="0"/>
              <a:t>智能分析</a:t>
            </a:r>
            <a:r>
              <a:rPr lang="zh-CN" altLang="en-US" sz="1800" dirty="0"/>
              <a:t>降低风险，通过</a:t>
            </a:r>
            <a:r>
              <a:rPr lang="zh-CN" altLang="en-US" sz="1800" b="1" dirty="0"/>
              <a:t>自动化匹配</a:t>
            </a:r>
            <a:r>
              <a:rPr lang="zh-CN" altLang="en-US" sz="1800" dirty="0"/>
              <a:t>节省成本，最终全面</a:t>
            </a:r>
            <a:r>
              <a:rPr lang="zh-CN" altLang="en-US" sz="1800" b="1" dirty="0"/>
              <a:t>提升安全决策的质量</a:t>
            </a:r>
            <a:r>
              <a:rPr lang="zh-CN" altLang="en-US" sz="18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DEE68-7A00-4561-97A8-ACF9C3AFFE8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我们的易链危化品智能查询系统采用</a:t>
            </a:r>
            <a:r>
              <a:rPr lang="zh-CN" altLang="en-US" b="1" dirty="0">
                <a:effectLst/>
              </a:rPr>
              <a:t>四层架构设计</a:t>
            </a:r>
            <a:r>
              <a:rPr lang="zh-CN" altLang="en-US" dirty="0">
                <a:effectLst/>
              </a:rPr>
              <a:t>。</a:t>
            </a:r>
            <a:r>
              <a:rPr lang="zh-CN" altLang="en-US" b="1" dirty="0">
                <a:effectLst/>
              </a:rPr>
              <a:t>最上层</a:t>
            </a:r>
            <a:r>
              <a:rPr lang="zh-CN" altLang="en-US" dirty="0">
                <a:effectLst/>
              </a:rPr>
              <a:t>是</a:t>
            </a:r>
            <a:r>
              <a:rPr lang="en-US" altLang="zh-CN" dirty="0">
                <a:effectLst/>
              </a:rPr>
              <a:t>7500</a:t>
            </a:r>
            <a:r>
              <a:rPr lang="zh-CN" altLang="en-US" dirty="0">
                <a:effectLst/>
              </a:rPr>
              <a:t>多行代码的响应式</a:t>
            </a:r>
            <a:r>
              <a:rPr lang="en-US" altLang="zh-CN" dirty="0">
                <a:effectLst/>
              </a:rPr>
              <a:t>Web</a:t>
            </a:r>
            <a:r>
              <a:rPr lang="zh-CN" altLang="en-US" dirty="0">
                <a:effectLst/>
              </a:rPr>
              <a:t>前端，提供友好的用户界面。</a:t>
            </a:r>
            <a:r>
              <a:rPr lang="zh-CN" altLang="en-US" b="1" dirty="0">
                <a:effectLst/>
              </a:rPr>
              <a:t>应用服务层</a:t>
            </a:r>
            <a:r>
              <a:rPr lang="zh-CN" altLang="en-US" dirty="0">
                <a:effectLst/>
              </a:rPr>
              <a:t>基于</a:t>
            </a:r>
            <a:r>
              <a:rPr lang="en-US" altLang="zh-CN" dirty="0">
                <a:effectLst/>
              </a:rPr>
              <a:t>Flask</a:t>
            </a:r>
            <a:r>
              <a:rPr lang="zh-CN" altLang="en-US" dirty="0">
                <a:effectLst/>
              </a:rPr>
              <a:t>框架，集成了智能搜索引擎、法规匹配、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分析接口和数据管理四大核心模块。</a:t>
            </a:r>
            <a:r>
              <a:rPr lang="zh-CN" altLang="en-US" b="1" dirty="0">
                <a:effectLst/>
              </a:rPr>
              <a:t>数据处理层</a:t>
            </a:r>
            <a:r>
              <a:rPr lang="zh-CN" altLang="en-US" dirty="0">
                <a:effectLst/>
              </a:rPr>
              <a:t>包含</a:t>
            </a:r>
            <a:r>
              <a:rPr lang="en-US" altLang="zh-CN" dirty="0">
                <a:effectLst/>
              </a:rPr>
              <a:t>475</a:t>
            </a:r>
            <a:r>
              <a:rPr lang="zh-CN" altLang="en-US" dirty="0">
                <a:effectLst/>
              </a:rPr>
              <a:t>个法规文件的全文索引器，以及采用</a:t>
            </a:r>
            <a:r>
              <a:rPr lang="en-US" altLang="zh-CN" dirty="0">
                <a:effectLst/>
              </a:rPr>
              <a:t>QwQ-32B</a:t>
            </a:r>
            <a:r>
              <a:rPr lang="zh-CN" altLang="en-US" dirty="0">
                <a:effectLst/>
              </a:rPr>
              <a:t>模型的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推理引擎。</a:t>
            </a:r>
            <a:r>
              <a:rPr lang="zh-CN" altLang="en-US" b="1" dirty="0">
                <a:effectLst/>
              </a:rPr>
              <a:t>数据存储层</a:t>
            </a:r>
            <a:r>
              <a:rPr lang="zh-CN" altLang="en-US" dirty="0">
                <a:effectLst/>
              </a:rPr>
              <a:t>由</a:t>
            </a:r>
            <a:r>
              <a:rPr lang="en-US" altLang="zh-CN" dirty="0">
                <a:effectLst/>
              </a:rPr>
              <a:t>MySQL</a:t>
            </a:r>
            <a:r>
              <a:rPr lang="zh-CN" altLang="en-US" dirty="0">
                <a:effectLst/>
              </a:rPr>
              <a:t>数据库、化学品</a:t>
            </a:r>
            <a:r>
              <a:rPr lang="en-US" altLang="zh-CN" dirty="0">
                <a:effectLst/>
              </a:rPr>
              <a:t>JSON</a:t>
            </a:r>
            <a:r>
              <a:rPr lang="zh-CN" altLang="en-US" dirty="0">
                <a:effectLst/>
              </a:rPr>
              <a:t>文件和</a:t>
            </a:r>
            <a:r>
              <a:rPr lang="en-US" altLang="zh-CN" dirty="0">
                <a:effectLst/>
              </a:rPr>
              <a:t>PDF</a:t>
            </a:r>
            <a:r>
              <a:rPr lang="zh-CN" altLang="en-US" dirty="0">
                <a:effectLst/>
              </a:rPr>
              <a:t>法规文档组成。</a:t>
            </a:r>
            <a:r>
              <a:rPr lang="zh-CN" altLang="en-US" b="1" dirty="0">
                <a:effectLst/>
              </a:rPr>
              <a:t>四层架构协同工作</a:t>
            </a:r>
            <a:r>
              <a:rPr lang="zh-CN" altLang="en-US" dirty="0">
                <a:effectLst/>
              </a:rPr>
              <a:t>，实现从数据存储到智能分析的完整闭环，为用户提供高效、智能的危化品查询服务。</a:t>
            </a:r>
            <a:endParaRPr lang="en-US" altLang="zh-CN" sz="2800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DEE68-7A00-4561-97A8-ACF9C3AFFE8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这张图展示了我们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**智能搜索系统的完整技术实现**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首先，在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**输入阶段**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，我们采用了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毫秒的防抖机制**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。什么是防抖呢？就是用户快速输入时，系统会等待输入暂停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毫秒后才发送请求，这样可以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**显著减少无效的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调用**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，降低服务器压力。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当前端发送自动补全请求时，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Flask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后端**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会对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数据库进行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**模糊查询匹配**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，支持中文名、英文名、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号和别名等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**多维度搜索**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。数据库返回候选列表后，前端会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**智能高亮**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用户输入的关键词，提供清晰的视觉反馈。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用户选中目标化学品后，系统会发起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**精确查询请求**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，这时后端会执行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**三个并行查询**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：查询化学品基本信息、查询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MSDS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所有章节内容、查询化学品的所有别名。通过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**数据库索引优化**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，这三个查询可以在毫秒级完成。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最后，后端将完整数据以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返回给前端，前端立即渲染出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**符合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GB/T 16483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标准的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MSDS 16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个章节**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，包括化学品标识、危险性概述、成分组成、急救措施等全部内容。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**整个流程的响应时间严格控制在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秒以内**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，即使数据库中有数百个化学品，用户也能获得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**流畅的实时查询体验**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这就是我们智能搜索系统的技术实现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6A17-F8D4-C729-2B98-2E0F91B3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504A83-2C67-0F72-5D77-5403947D4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93F686-D778-B20B-1DF7-43748B45729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这张图展示了我们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智能高亮匹配系统的技术实现**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**多化学品独立匹配的技术难点**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。在多化学品查询场景下，如果使用全局变量存储化学品信息，会导致所有法规链接都匹配最后一个化学品。我们创新性地采用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Base64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编码**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，将每个化学品的信息独立存储到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元素的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属性中，点击时动态提取，完美解决了这个问题。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其次是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**批量并行搜索技术**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。传统方案是逐页提取文本并搜索，对于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页的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可能需要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秒。我们采用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**批量并行策略**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，将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分成多个批次，每批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页，使用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Promise.all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并行处理，搜索时间缩短到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秒以内**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，效率提升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**文本缓存机制**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文本提取是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密集型操作，我们建立了页面级缓存，首次提取后存入内存，后续搜索直接读取缓存，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**二次搜索速度提升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倍以上**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第四是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**智能分组展示**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。搜索结果按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号、化学品名称、别名的优先级分组，每个结果都附带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**前后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个字符的上下文**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，帮助用户快速判断相关性。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这就是我们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智能匹配系统的核心技术</a:t>
            </a:r>
          </a:p>
        </p:txBody>
      </p:sp>
    </p:spTree>
    <p:extLst>
      <p:ext uri="{BB962C8B-B14F-4D97-AF65-F5344CB8AC3E}">
        <p14:creationId xmlns:p14="http://schemas.microsoft.com/office/powerpoint/2010/main" val="1424447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751A5-39AF-1373-9B16-027F0B35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E7BC70-F752-579E-9A0D-5114533BE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ECC46-72CD-F9A2-D341-C430EA6603A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这张图展示了我们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智能分析系统的完整技术架构**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**数据提取阶段**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。系统从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数据库精确提取每个化学品的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MSDS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章（危险性概述）和第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章（稳定性和反应性）**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。这两章包含了兼容性分析所需的核心信息：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GHS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危险性分类、不相容物质列表、禁配物等。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其次是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构建优化**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。我们针对不同数量的化学品实现了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**动态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：当化学品数量增多时，自动精简每个化学品的描述长度，避免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过长导致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理解困难。这个优化使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个化学品的分析成功率从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提升到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**动态超时机制**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。传统方案使用固定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秒超时，但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推理时间与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长度高度相关。我们实现了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**智能超时计算**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：根据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长度动态设定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秒的超时时间，并在重试时递增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，彻底解决了大规模分析的超时问题。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第四是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**自动重试策略**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。当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调用失败或超时时，系统会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**自动重试最多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，每次重试增加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的超时时间和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秒的等待延迟，避免频繁失败。经过优化，分析成功率从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提升到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95%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返回的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格式报告包含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个核心维度**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：风险等级评估（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0-100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分）、化学反应方程式、存储安全建议、操作注意事项、应急处理措施，为用户提供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**全方位的安全指导**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56047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62F98-1A12-D819-1B7E-D7D7AD8B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DC5941-0B98-916E-D9C6-3528D158A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664B81-1DA4-57BA-887E-2C3968BA461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**多维搜索技术**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。支持中文名、英文名、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号、别名等多维度查询，实现模糊匹配和精确查询的智能切换，响应时间小于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智能匹配技术**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。通过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Base64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编码方案，完美解决了多化学品独立匹配的难题；采用批量并行搜索，效率提升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倍；引入文本缓存机制，二次搜索速度提升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智能分析技术**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。通过动态超时机制，适应不同规模的分析需求；实现自动重试策略，将成功率从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提升到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95%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以上；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动态优化，长度减少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但准确率提升。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系统已成功部署在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**阿里云服务器**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，具备实际应用能力，可以为高校实验室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科研机构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企业生产提供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**专业的化学品安全管理服务**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134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感谢各位老师和专家的聆听与指导，期待您的宝贵意见！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DEE68-7A00-4561-97A8-ACF9C3AFFE8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49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9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7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70E87F9-3DDA-4B30-ACAD-1667D748F19D}" type="datetime1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1188E43-F3DE-4499-8022-0B14F3903A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858D9-B740-4102-BB77-CC9D41950127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9F85-BE8F-4040-9D5E-2AAB49D11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56087" y="1374608"/>
            <a:ext cx="79828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spcBef>
                <a:spcPct val="0"/>
              </a:spcBef>
              <a:defRPr sz="4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defRPr>
            </a:lvl1pPr>
          </a:lstStyle>
          <a:p>
            <a:r>
              <a:rPr lang="zh-CN" altLang="zh-CN" dirty="0"/>
              <a:t>基于超算大脑的</a:t>
            </a:r>
            <a:r>
              <a:rPr lang="zh-CN" altLang="en-US" dirty="0"/>
              <a:t>危化品智能查询系统</a:t>
            </a:r>
            <a:r>
              <a:rPr lang="zh-CN" altLang="zh-CN" dirty="0"/>
              <a:t>演示</a:t>
            </a:r>
          </a:p>
        </p:txBody>
      </p:sp>
      <p:sp>
        <p:nvSpPr>
          <p:cNvPr id="7" name="矩形 6"/>
          <p:cNvSpPr/>
          <p:nvPr/>
        </p:nvSpPr>
        <p:spPr>
          <a:xfrm>
            <a:off x="7046245" y="4291558"/>
            <a:ext cx="3422732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汇报人：</a:t>
            </a:r>
            <a:r>
              <a:rPr lang="en-US" altLang="zh-CN" sz="3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zh-CN" altLang="en-US" sz="3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肖云飞  </a:t>
            </a:r>
            <a:endParaRPr lang="en-US" altLang="zh-CN" sz="3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pSp>
        <p:nvGrpSpPr>
          <p:cNvPr id="2" name="组合 4"/>
          <p:cNvGrpSpPr/>
          <p:nvPr/>
        </p:nvGrpSpPr>
        <p:grpSpPr bwMode="auto">
          <a:xfrm>
            <a:off x="137762" y="81250"/>
            <a:ext cx="5335588" cy="1028700"/>
            <a:chOff x="0" y="0"/>
            <a:chExt cx="4657725" cy="1028700"/>
          </a:xfrm>
        </p:grpSpPr>
        <p:pic>
          <p:nvPicPr>
            <p:cNvPr id="1027" name="图片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691" r="31158"/>
            <a:stretch>
              <a:fillRect/>
            </a:stretch>
          </p:blipFill>
          <p:spPr bwMode="auto">
            <a:xfrm>
              <a:off x="0" y="0"/>
              <a:ext cx="942975" cy="1028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图片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25" y="0"/>
              <a:ext cx="3619500" cy="1019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文本框 3"/>
          <p:cNvSpPr txBox="1"/>
          <p:nvPr/>
        </p:nvSpPr>
        <p:spPr>
          <a:xfrm>
            <a:off x="5304539" y="6253530"/>
            <a:ext cx="20859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行楷" panose="02010800040101010101" pitchFamily="2" charset="-122"/>
                <a:ea typeface="华文行楷" panose="02010800040101010101" pitchFamily="2" charset="-122"/>
              </a:rPr>
              <a:t>自动化学院</a:t>
            </a:r>
          </a:p>
        </p:txBody>
      </p:sp>
      <p:sp>
        <p:nvSpPr>
          <p:cNvPr id="11" name="rect 60"/>
          <p:cNvSpPr/>
          <p:nvPr/>
        </p:nvSpPr>
        <p:spPr>
          <a:xfrm>
            <a:off x="0" y="1133151"/>
            <a:ext cx="12192000" cy="104775"/>
          </a:xfrm>
          <a:prstGeom prst="rect">
            <a:avLst/>
          </a:prstGeom>
          <a:solidFill>
            <a:srgbClr val="3A39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sp>
        <p:nvSpPr>
          <p:cNvPr id="12" name="rect 60"/>
          <p:cNvSpPr/>
          <p:nvPr/>
        </p:nvSpPr>
        <p:spPr>
          <a:xfrm flipV="1">
            <a:off x="0" y="6120884"/>
            <a:ext cx="12192000" cy="45719"/>
          </a:xfrm>
          <a:prstGeom prst="rect">
            <a:avLst/>
          </a:prstGeom>
          <a:solidFill>
            <a:srgbClr val="3A39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0444"/>
            <a:ext cx="3998059" cy="293217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050"/>
          <p:cNvSpPr>
            <a:spLocks noChangeShapeType="1"/>
          </p:cNvSpPr>
          <p:nvPr/>
        </p:nvSpPr>
        <p:spPr bwMode="auto">
          <a:xfrm>
            <a:off x="4236074" y="1217648"/>
            <a:ext cx="0" cy="48974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TextBox 21"/>
          <p:cNvSpPr txBox="1">
            <a:spLocks noChangeArrowheads="1"/>
          </p:cNvSpPr>
          <p:nvPr/>
        </p:nvSpPr>
        <p:spPr bwMode="auto">
          <a:xfrm>
            <a:off x="4529455" y="534035"/>
            <a:ext cx="7171055" cy="611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项目背景与价值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r>
              <a:rPr lang="zh-CN" altLang="en-US" sz="2800" dirty="0">
                <a:solidFill>
                  <a:schemeClr val="tx1"/>
                </a:solidFill>
                <a:cs typeface="Segoe UI" panose="020B0502040204020203" pitchFamily="34" charset="0"/>
                <a:sym typeface="+mn-ea"/>
              </a:rPr>
              <a:t>系统整体架构</a:t>
            </a:r>
            <a:endParaRPr lang="en-US" altLang="zh-CN" sz="2800" dirty="0">
              <a:solidFill>
                <a:schemeClr val="tx1"/>
              </a:solidFill>
              <a:cs typeface="Segoe UI" panose="020B0502040204020203" pitchFamily="34" charset="0"/>
              <a:sym typeface="+mn-ea"/>
            </a:endParaRPr>
          </a:p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r>
              <a:rPr lang="zh-CN" altLang="en-US" sz="2800" dirty="0">
                <a:solidFill>
                  <a:schemeClr val="tx1"/>
                </a:solidFill>
                <a:cs typeface="Segoe UI" panose="020B0502040204020203" pitchFamily="34" charset="0"/>
              </a:rPr>
              <a:t>多维度智能搜索</a:t>
            </a:r>
            <a:endParaRPr lang="en-US" altLang="zh-CN" sz="28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r>
              <a:rPr lang="en-US" altLang="zh-CN" sz="2800" dirty="0">
                <a:solidFill>
                  <a:schemeClr val="tx1"/>
                </a:solidFill>
                <a:cs typeface="Segoe UI" panose="020B0502040204020203" pitchFamily="34" charset="0"/>
              </a:rPr>
              <a:t>PDF</a:t>
            </a:r>
            <a:r>
              <a:rPr lang="zh-CN" altLang="en-US" sz="2800" dirty="0">
                <a:solidFill>
                  <a:schemeClr val="tx1"/>
                </a:solidFill>
                <a:cs typeface="Segoe UI" panose="020B0502040204020203" pitchFamily="34" charset="0"/>
              </a:rPr>
              <a:t>智能高亮匹配</a:t>
            </a:r>
            <a:endParaRPr lang="en-US" altLang="zh-CN" sz="28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r>
              <a:rPr lang="en-US" altLang="zh-CN" sz="2800" dirty="0">
                <a:solidFill>
                  <a:schemeClr val="tx1"/>
                </a:solidFill>
                <a:cs typeface="Segoe UI" panose="020B0502040204020203" pitchFamily="34" charset="0"/>
              </a:rPr>
              <a:t>AI</a:t>
            </a:r>
            <a:r>
              <a:rPr lang="zh-CN" altLang="en-US" sz="2800" dirty="0">
                <a:solidFill>
                  <a:schemeClr val="tx1"/>
                </a:solidFill>
                <a:cs typeface="Segoe UI" panose="020B0502040204020203" pitchFamily="34" charset="0"/>
              </a:rPr>
              <a:t>多化学品智能分析</a:t>
            </a:r>
            <a:endParaRPr lang="en-US" altLang="zh-CN" sz="28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r>
              <a:rPr lang="zh-CN" altLang="en-US" sz="2800" dirty="0">
                <a:solidFill>
                  <a:schemeClr val="tx1"/>
                </a:solidFill>
                <a:cs typeface="Segoe UI" panose="020B0502040204020203" pitchFamily="34" charset="0"/>
              </a:rPr>
              <a:t>总结</a:t>
            </a:r>
            <a:endParaRPr lang="en-US" altLang="zh-CN" sz="28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endParaRPr lang="en-US" altLang="zh-CN" sz="2800" dirty="0">
              <a:solidFill>
                <a:schemeClr val="tx1"/>
              </a:solidFill>
              <a:cs typeface="Segoe UI" panose="020B0502040204020203" pitchFamily="34" charset="0"/>
            </a:endParaRPr>
          </a:p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endParaRPr lang="en-US" altLang="zh-CN" sz="2800" dirty="0">
              <a:solidFill>
                <a:schemeClr val="tx1"/>
              </a:solidFill>
              <a:cs typeface="Segoe UI" panose="020B0502040204020203" pitchFamily="34" charset="0"/>
              <a:sym typeface="+mn-ea"/>
            </a:endParaRPr>
          </a:p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endParaRPr lang="en-US" altLang="zh-CN" sz="2800" dirty="0">
              <a:solidFill>
                <a:schemeClr val="tx1"/>
              </a:solidFill>
              <a:cs typeface="Segoe UI" panose="020B0502040204020203" pitchFamily="34" charset="0"/>
              <a:sym typeface="+mn-ea"/>
            </a:endParaRPr>
          </a:p>
          <a:p>
            <a:pPr marL="381000" indent="-381000">
              <a:lnSpc>
                <a:spcPct val="200000"/>
              </a:lnSpc>
              <a:buBlip>
                <a:blip r:embed="rId4"/>
              </a:buBlip>
            </a:pPr>
            <a:endParaRPr lang="zh-CN" altLang="en-US" sz="2800" dirty="0">
              <a:solidFill>
                <a:schemeClr val="tx1"/>
              </a:solidFill>
              <a:cs typeface="Segoe UI" panose="020B0502040204020203" pitchFamily="34" charset="0"/>
              <a:sym typeface="+mn-ea"/>
            </a:endParaRPr>
          </a:p>
        </p:txBody>
      </p:sp>
      <p:sp>
        <p:nvSpPr>
          <p:cNvPr id="4" name="TextBox 21"/>
          <p:cNvSpPr txBox="1">
            <a:spLocks noChangeArrowheads="1"/>
          </p:cNvSpPr>
          <p:nvPr/>
        </p:nvSpPr>
        <p:spPr bwMode="auto">
          <a:xfrm>
            <a:off x="2183009" y="2726548"/>
            <a:ext cx="190627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4400" b="1" spc="800" dirty="0">
                <a:solidFill>
                  <a:srgbClr val="C00000"/>
                </a:solidFill>
                <a:sym typeface="Times New Roman" panose="02020603050405020304" pitchFamily="18" charset="0"/>
              </a:rPr>
              <a:t>目录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01340" y="3849043"/>
            <a:ext cx="1089710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/>
              <a:t>    </a:t>
            </a:r>
            <a:r>
              <a:rPr lang="zh-CN" altLang="en-US" b="1" dirty="0">
                <a:solidFill>
                  <a:srgbClr val="C00000"/>
                </a:solidFill>
              </a:rPr>
              <a:t>易链危化品智能查询系统</a:t>
            </a:r>
            <a:r>
              <a:rPr lang="zh-CN" altLang="en-US" dirty="0"/>
              <a:t>是一个</a:t>
            </a:r>
            <a:r>
              <a:rPr lang="zh-CN" altLang="en-US" b="1" dirty="0">
                <a:solidFill>
                  <a:srgbClr val="C00000"/>
                </a:solidFill>
              </a:rPr>
              <a:t>专业的化学品安全数据管理与智能分析平台</a:t>
            </a:r>
            <a:r>
              <a:rPr lang="zh-CN" altLang="en-US" dirty="0"/>
              <a:t>。其核心价值在于，通过</a:t>
            </a:r>
            <a:r>
              <a:rPr lang="zh-CN" altLang="en-US" b="1" dirty="0">
                <a:solidFill>
                  <a:srgbClr val="C00000"/>
                </a:solidFill>
              </a:rPr>
              <a:t>秒级响应</a:t>
            </a:r>
            <a:r>
              <a:rPr lang="zh-CN" altLang="en-US" dirty="0"/>
              <a:t>显著</a:t>
            </a:r>
            <a:r>
              <a:rPr lang="zh-CN" altLang="en-US" dirty="0">
                <a:solidFill>
                  <a:schemeClr val="tx1"/>
                </a:solidFill>
              </a:rPr>
              <a:t>提高查询效率</a:t>
            </a:r>
            <a:r>
              <a:rPr lang="zh-CN" altLang="en-US" dirty="0"/>
              <a:t>，利用</a:t>
            </a:r>
            <a:r>
              <a:rPr lang="en-US" altLang="zh-CN" b="1" dirty="0">
                <a:solidFill>
                  <a:srgbClr val="C00000"/>
                </a:solidFill>
              </a:rPr>
              <a:t>AI</a:t>
            </a:r>
            <a:r>
              <a:rPr lang="zh-CN" altLang="en-US" b="1" dirty="0">
                <a:solidFill>
                  <a:srgbClr val="C00000"/>
                </a:solidFill>
              </a:rPr>
              <a:t>智能分析</a:t>
            </a:r>
            <a:r>
              <a:rPr lang="zh-CN" altLang="en-US" dirty="0"/>
              <a:t>有效降低合规风险，并通过</a:t>
            </a:r>
            <a:r>
              <a:rPr lang="zh-CN" altLang="en-US" b="1" dirty="0">
                <a:solidFill>
                  <a:srgbClr val="C00000"/>
                </a:solidFill>
              </a:rPr>
              <a:t>自动化匹配</a:t>
            </a:r>
            <a:r>
              <a:rPr lang="zh-CN" altLang="en-US" dirty="0"/>
              <a:t>功能节省人工成本，从而全面</a:t>
            </a:r>
            <a:r>
              <a:rPr lang="zh-CN" altLang="en-US" b="1" dirty="0">
                <a:solidFill>
                  <a:srgbClr val="C00000"/>
                </a:solidFill>
              </a:rPr>
              <a:t>提升安全决策质量</a:t>
            </a:r>
            <a:r>
              <a:rPr lang="zh-CN" altLang="en-US" dirty="0"/>
              <a:t>。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1340" y="1121841"/>
            <a:ext cx="111858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在当前的化学品安全管理实践中，面临着诸多挑战。一方面，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化学品信息分散，导致现场查询困难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；另一方面，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相关的法规文件众多，人工匹配效率低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。此外，对于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多化学品共存风险也难以进行快速准确的评估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，行业普遍缺乏智能化分析工具，严重制约了安全管理水平的提升。</a:t>
            </a:r>
          </a:p>
        </p:txBody>
      </p:sp>
      <p:sp>
        <p:nvSpPr>
          <p:cNvPr id="2" name="textbox 50"/>
          <p:cNvSpPr/>
          <p:nvPr/>
        </p:nvSpPr>
        <p:spPr>
          <a:xfrm>
            <a:off x="4956799" y="121769"/>
            <a:ext cx="1925973" cy="505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lang="zh-CN" altLang="en-US" sz="3200" b="1" kern="0" spc="-10" dirty="0">
                <a:solidFill>
                  <a:srgbClr val="C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项目概述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 60"/>
          <p:cNvSpPr/>
          <p:nvPr/>
        </p:nvSpPr>
        <p:spPr>
          <a:xfrm>
            <a:off x="0" y="676275"/>
            <a:ext cx="12192000" cy="104775"/>
          </a:xfrm>
          <a:prstGeom prst="rect">
            <a:avLst/>
          </a:prstGeom>
          <a:solidFill>
            <a:srgbClr val="3A39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0"/>
          <p:cNvSpPr/>
          <p:nvPr/>
        </p:nvSpPr>
        <p:spPr>
          <a:xfrm>
            <a:off x="4618640" y="115571"/>
            <a:ext cx="2658351" cy="505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94000"/>
              </a:lnSpc>
            </a:pPr>
            <a:endParaRPr sz="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ctr" rtl="0" eaLnBrk="0">
              <a:lnSpc>
                <a:spcPct val="98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系统整体架构</a:t>
            </a:r>
            <a:endParaRPr 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ect 60"/>
          <p:cNvSpPr/>
          <p:nvPr/>
        </p:nvSpPr>
        <p:spPr>
          <a:xfrm>
            <a:off x="0" y="623886"/>
            <a:ext cx="12192000" cy="104775"/>
          </a:xfrm>
          <a:prstGeom prst="rect">
            <a:avLst/>
          </a:prstGeom>
          <a:solidFill>
            <a:srgbClr val="3A39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75CC9A2B-B45C-7081-BC6E-25491C54D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197" y="728661"/>
            <a:ext cx="8998527" cy="61293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6DC07A68-9370-3990-6BF3-2C2D05535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141" y="896363"/>
            <a:ext cx="7061860" cy="5699336"/>
          </a:xfrm>
          <a:prstGeom prst="rect">
            <a:avLst/>
          </a:prstGeom>
        </p:spPr>
      </p:pic>
      <p:sp>
        <p:nvSpPr>
          <p:cNvPr id="4" name="textbox 50"/>
          <p:cNvSpPr/>
          <p:nvPr/>
        </p:nvSpPr>
        <p:spPr>
          <a:xfrm>
            <a:off x="3164155" y="77847"/>
            <a:ext cx="6343466" cy="505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94000"/>
              </a:lnSpc>
            </a:pPr>
            <a:endParaRPr lang="zh-CN" altLang="en-US" sz="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ctr" rtl="0" eaLnBrk="0">
              <a:lnSpc>
                <a:spcPct val="98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多维度智能搜索</a:t>
            </a:r>
          </a:p>
        </p:txBody>
      </p:sp>
      <p:sp>
        <p:nvSpPr>
          <p:cNvPr id="5" name="rect 60"/>
          <p:cNvSpPr/>
          <p:nvPr/>
        </p:nvSpPr>
        <p:spPr>
          <a:xfrm>
            <a:off x="0" y="676275"/>
            <a:ext cx="12192000" cy="104775"/>
          </a:xfrm>
          <a:prstGeom prst="rect">
            <a:avLst/>
          </a:prstGeom>
          <a:solidFill>
            <a:srgbClr val="3A39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8128" y="781050"/>
            <a:ext cx="5518065" cy="54963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智能防抖优化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(300ms)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基于用户行为分析，减少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的无效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请求，显著降低服务器负载。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多维智能匹配算法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全文索引，支持中文、英文、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号、别名的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一键穿透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查询。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数据库性能调优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针对高频场景设计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复合索引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，优化多表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JOIN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查询，综合效率提升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以上。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前端渲染加速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智能高亮算法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虚拟滚动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技术，保障海量数据下的丝滑体验。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全平台响应式设计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完美适配移动端与平板，提供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原生应用般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的操作体验</a:t>
            </a:r>
            <a:r>
              <a:rPr lang="zh-CN" altLang="en-US" dirty="0"/>
              <a:t>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0" y="3034040"/>
            <a:ext cx="5518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   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77908" y="641103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化学品搜索流程时序图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90DA9-6091-47B1-0C4E-B9DFD8A33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36F61C44-C7D6-625B-8112-70D842E68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194" y="781051"/>
            <a:ext cx="6317678" cy="5999102"/>
          </a:xfrm>
          <a:prstGeom prst="rect">
            <a:avLst/>
          </a:prstGeom>
        </p:spPr>
      </p:pic>
      <p:sp>
        <p:nvSpPr>
          <p:cNvPr id="4" name="textbox 50">
            <a:extLst>
              <a:ext uri="{FF2B5EF4-FFF2-40B4-BE49-F238E27FC236}">
                <a16:creationId xmlns:a16="http://schemas.microsoft.com/office/drawing/2014/main" id="{C09DFBF9-54B8-866C-5A43-C75C96E2E34A}"/>
              </a:ext>
            </a:extLst>
          </p:cNvPr>
          <p:cNvSpPr/>
          <p:nvPr/>
        </p:nvSpPr>
        <p:spPr>
          <a:xfrm>
            <a:off x="3164155" y="77847"/>
            <a:ext cx="6343466" cy="505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94000"/>
              </a:lnSpc>
            </a:pPr>
            <a:endParaRPr lang="zh-CN" altLang="en-US" sz="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ctr" rtl="0" eaLnBrk="0">
              <a:lnSpc>
                <a:spcPct val="98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PDF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智能高亮匹配</a:t>
            </a:r>
          </a:p>
        </p:txBody>
      </p:sp>
      <p:sp>
        <p:nvSpPr>
          <p:cNvPr id="5" name="rect 60">
            <a:extLst>
              <a:ext uri="{FF2B5EF4-FFF2-40B4-BE49-F238E27FC236}">
                <a16:creationId xmlns:a16="http://schemas.microsoft.com/office/drawing/2014/main" id="{7EF8ACE7-530A-E9FD-3021-55D0EC03F24E}"/>
              </a:ext>
            </a:extLst>
          </p:cNvPr>
          <p:cNvSpPr/>
          <p:nvPr/>
        </p:nvSpPr>
        <p:spPr>
          <a:xfrm>
            <a:off x="0" y="676275"/>
            <a:ext cx="12192000" cy="104775"/>
          </a:xfrm>
          <a:prstGeom prst="rect">
            <a:avLst/>
          </a:prstGeom>
          <a:solidFill>
            <a:srgbClr val="3A39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46D2DCE-C3C5-AA44-8AA0-B00594F01590}"/>
              </a:ext>
            </a:extLst>
          </p:cNvPr>
          <p:cNvSpPr txBox="1"/>
          <p:nvPr/>
        </p:nvSpPr>
        <p:spPr>
          <a:xfrm>
            <a:off x="178128" y="685412"/>
            <a:ext cx="5518065" cy="54963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多化学品独立匹配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(Base64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Base64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HTML data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独立存储化学品信息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。根本性解决了多化学品查询时，全局变量导致的数据覆盖与匹配错误问题。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批量并行搜索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Promise.all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分批（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50-100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并行处理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，替代传统逐页搜索。搜索效率提升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搜索时间从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秒缩短至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 以内。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高性能文本缓存机制策略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建立页面级内存缓存，避免重复进行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密集型的文本提取操作。二次搜索实现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秒级响应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智能分组与上下文展示体验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搜索结果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号、名称、别名优先级智能分组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。自动展示匹配点前后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字符上下文，帮助用户快速判断相关性。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73D2D9-63B5-EBBC-BCED-DB3550BA9B51}"/>
              </a:ext>
            </a:extLst>
          </p:cNvPr>
          <p:cNvSpPr txBox="1"/>
          <p:nvPr/>
        </p:nvSpPr>
        <p:spPr>
          <a:xfrm>
            <a:off x="7608538" y="6488668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PDF</a:t>
            </a:r>
            <a:r>
              <a:rPr lang="zh-CN" altLang="en-US" b="1" dirty="0"/>
              <a:t>智能高亮匹配流程</a:t>
            </a:r>
          </a:p>
        </p:txBody>
      </p:sp>
    </p:spTree>
    <p:extLst>
      <p:ext uri="{BB962C8B-B14F-4D97-AF65-F5344CB8AC3E}">
        <p14:creationId xmlns:p14="http://schemas.microsoft.com/office/powerpoint/2010/main" val="3626351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C270E-5B89-3718-8F0B-C7E39CCDD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日程表&#10;&#10;AI 生成的内容可能不正确。">
            <a:extLst>
              <a:ext uri="{FF2B5EF4-FFF2-40B4-BE49-F238E27FC236}">
                <a16:creationId xmlns:a16="http://schemas.microsoft.com/office/drawing/2014/main" id="{B9F0A289-2995-5E2D-5489-A344641F5B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710" y="781050"/>
            <a:ext cx="6504470" cy="5892285"/>
          </a:xfrm>
          <a:prstGeom prst="rect">
            <a:avLst/>
          </a:prstGeom>
        </p:spPr>
      </p:pic>
      <p:sp>
        <p:nvSpPr>
          <p:cNvPr id="4" name="textbox 50">
            <a:extLst>
              <a:ext uri="{FF2B5EF4-FFF2-40B4-BE49-F238E27FC236}">
                <a16:creationId xmlns:a16="http://schemas.microsoft.com/office/drawing/2014/main" id="{8DF3C587-A1AF-30BD-1B07-92027FE9B057}"/>
              </a:ext>
            </a:extLst>
          </p:cNvPr>
          <p:cNvSpPr/>
          <p:nvPr/>
        </p:nvSpPr>
        <p:spPr>
          <a:xfrm>
            <a:off x="3164155" y="77847"/>
            <a:ext cx="6343466" cy="505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94000"/>
              </a:lnSpc>
            </a:pPr>
            <a:endParaRPr lang="zh-CN" altLang="en-US" sz="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ctr" rtl="0" eaLnBrk="0">
              <a:lnSpc>
                <a:spcPct val="98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多化学品智能分析</a:t>
            </a:r>
          </a:p>
        </p:txBody>
      </p:sp>
      <p:sp>
        <p:nvSpPr>
          <p:cNvPr id="5" name="rect 60">
            <a:extLst>
              <a:ext uri="{FF2B5EF4-FFF2-40B4-BE49-F238E27FC236}">
                <a16:creationId xmlns:a16="http://schemas.microsoft.com/office/drawing/2014/main" id="{1F79C697-1A43-77A8-72E4-2B8E4FCF5C64}"/>
              </a:ext>
            </a:extLst>
          </p:cNvPr>
          <p:cNvSpPr/>
          <p:nvPr/>
        </p:nvSpPr>
        <p:spPr>
          <a:xfrm>
            <a:off x="0" y="676275"/>
            <a:ext cx="12192000" cy="104775"/>
          </a:xfrm>
          <a:prstGeom prst="rect">
            <a:avLst/>
          </a:prstGeom>
          <a:solidFill>
            <a:srgbClr val="3A39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76C9931-CEAC-465C-0D35-5287492BAC84}"/>
              </a:ext>
            </a:extLst>
          </p:cNvPr>
          <p:cNvSpPr txBox="1"/>
          <p:nvPr/>
        </p:nvSpPr>
        <p:spPr>
          <a:xfrm>
            <a:off x="117645" y="676275"/>
            <a:ext cx="5518065" cy="54963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核心数据提取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(MSDS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精准抽取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数据库精确提取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MSDS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危险性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中提取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GHS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分类、不相容物质、禁配物等核心安全数据。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构建优化策略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根据化学品数量，动态精简描述长度，防止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过长导致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理解失败。成果：多化学品分析成功率从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40%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提升至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90%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智能动态超时机制策略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长度动态计算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(120s-300s)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超时时间，替代固定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解决大规模分析中的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超时问题。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健壮的自动重试策略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超时自动重试，并递增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超时时间 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秒延迟。系统综合分析成功率从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提升至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95%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五维安全报告 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(JSON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风险评分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(0-100)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、反应方程式、存储建议、操作注意、应急措施。价值：提供全方位的安全决策指导。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D892EB-A4BD-A603-D459-6F212F9838FE}"/>
              </a:ext>
            </a:extLst>
          </p:cNvPr>
          <p:cNvSpPr txBox="1"/>
          <p:nvPr/>
        </p:nvSpPr>
        <p:spPr>
          <a:xfrm>
            <a:off x="7958794" y="6488668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AI</a:t>
            </a:r>
            <a:r>
              <a:rPr lang="zh-CN" altLang="en-US" b="1" dirty="0"/>
              <a:t>智能分析流程</a:t>
            </a:r>
          </a:p>
        </p:txBody>
      </p:sp>
    </p:spTree>
    <p:extLst>
      <p:ext uri="{BB962C8B-B14F-4D97-AF65-F5344CB8AC3E}">
        <p14:creationId xmlns:p14="http://schemas.microsoft.com/office/powerpoint/2010/main" val="487637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6FDC-3E6D-8527-0DE9-DDD22E19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0">
            <a:extLst>
              <a:ext uri="{FF2B5EF4-FFF2-40B4-BE49-F238E27FC236}">
                <a16:creationId xmlns:a16="http://schemas.microsoft.com/office/drawing/2014/main" id="{1A464AD2-0B42-01EA-736B-925EB4FC5927}"/>
              </a:ext>
            </a:extLst>
          </p:cNvPr>
          <p:cNvSpPr/>
          <p:nvPr/>
        </p:nvSpPr>
        <p:spPr>
          <a:xfrm>
            <a:off x="3164155" y="77847"/>
            <a:ext cx="6343466" cy="505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94000"/>
              </a:lnSpc>
            </a:pPr>
            <a:endParaRPr lang="zh-CN" altLang="en-US" sz="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ctr" rtl="0" eaLnBrk="0">
              <a:lnSpc>
                <a:spcPct val="98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</a:t>
            </a:r>
          </a:p>
        </p:txBody>
      </p:sp>
      <p:sp>
        <p:nvSpPr>
          <p:cNvPr id="5" name="rect 60">
            <a:extLst>
              <a:ext uri="{FF2B5EF4-FFF2-40B4-BE49-F238E27FC236}">
                <a16:creationId xmlns:a16="http://schemas.microsoft.com/office/drawing/2014/main" id="{E6CC5686-B2F5-8178-A581-F0F99BBFDF4E}"/>
              </a:ext>
            </a:extLst>
          </p:cNvPr>
          <p:cNvSpPr/>
          <p:nvPr/>
        </p:nvSpPr>
        <p:spPr>
          <a:xfrm>
            <a:off x="0" y="676275"/>
            <a:ext cx="12192000" cy="104775"/>
          </a:xfrm>
          <a:prstGeom prst="rect">
            <a:avLst/>
          </a:prstGeom>
          <a:solidFill>
            <a:srgbClr val="3A39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15B6B8-BA67-0807-8B40-DBE3B22AB4A4}"/>
              </a:ext>
            </a:extLst>
          </p:cNvPr>
          <p:cNvSpPr txBox="1"/>
          <p:nvPr/>
        </p:nvSpPr>
        <p:spPr>
          <a:xfrm>
            <a:off x="117645" y="676275"/>
            <a:ext cx="5518065" cy="54963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三大创新点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第一，多维搜索技术。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支持中文名、英文名、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号、别名等多维度查询，实现模糊匹配和精确查询的智能切换，响应时间小于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第二，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智能匹配技术。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Base64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编码方案，完美解决了多化学品独立匹配的难题；采用批量并行搜索，效率提升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倍；引入文本缓存机制，二次搜索速度提升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第三，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智能分析技术。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通过动态超时机制，适应不同规模的分析需求；实现自动重试策略，将成功率从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提升到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95%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以上；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动态优化，长度减少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但准确率提升。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62849A-8980-78CB-A6E6-DFEDA3EA6C70}"/>
              </a:ext>
            </a:extLst>
          </p:cNvPr>
          <p:cNvSpPr txBox="1"/>
          <p:nvPr/>
        </p:nvSpPr>
        <p:spPr>
          <a:xfrm>
            <a:off x="8197245" y="641082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系统技术栈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838655B1-9875-767D-F052-A2F2ECF9D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19" y="1236473"/>
            <a:ext cx="6650681" cy="514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8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62475" y="2771775"/>
            <a:ext cx="357020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华文行楷" panose="02010800040101010101" pitchFamily="2" charset="-122"/>
                <a:ea typeface="华文行楷" panose="02010800040101010101" pitchFamily="2" charset="-122"/>
              </a:rPr>
              <a:t>谢谢！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2193</Words>
  <Application>Microsoft Office PowerPoint</Application>
  <PresentationFormat>宽屏</PresentationFormat>
  <Paragraphs>107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-apple-system</vt:lpstr>
      <vt:lpstr>等线</vt:lpstr>
      <vt:lpstr>等线 Light</vt:lpstr>
      <vt:lpstr>华文行楷</vt:lpstr>
      <vt:lpstr>微软雅黑</vt:lpstr>
      <vt:lpstr>Arial</vt:lpstr>
      <vt:lpstr>Segoe UI</vt:lpstr>
      <vt:lpstr>Times New Roman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dancyyao123@outlook.com</dc:creator>
  <cp:lastModifiedBy>云飞 肖</cp:lastModifiedBy>
  <cp:revision>47</cp:revision>
  <dcterms:created xsi:type="dcterms:W3CDTF">2025-05-07T12:30:00Z</dcterms:created>
  <dcterms:modified xsi:type="dcterms:W3CDTF">2025-11-06T07:42:14Z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0A492AEF075A4727889A46E75F1FEB6B_12</vt:lpwstr>
  </property>
  <property fmtid="{D5CDD505-2E9C-101B-9397-08002B2CF9AE}" pid="3" name="KSOProductBuildVer">
    <vt:lpwstr>2052-12.1.0.22529</vt:lpwstr>
  </property>
</Properties>
</file>